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8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9" Type="http://schemas.openxmlformats.org/officeDocument/2006/relationships/slide" Target="slides/slide1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392" y="548640"/>
            <a:ext cx="1988608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Autodesk Revit Architecture Masterclass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C508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BIM, CAD and digital design — Revit, AutoCAD, Fusion 360 and engineering software.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architecture drawing, BIM modeling, technical drawing and product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Your experience with CAD, BIM or architectural drafting (if any).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What you want to design or document after this course.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61963"/>
            <a:ext cx="4828032" cy="2758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Attend both days in full.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LMS / TMS · 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 in to the LMS/TMS portal:  https://lms-tms.tertiaryinfotech.com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 your course under My Courses.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Download the slides, Learner Guide and lab files from the Course Materials section.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them handy — refer to the slides and Learner Guide during the labs.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Your certificate of completion is also issued on this portal after the course.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132" y="1920240"/>
            <a:ext cx="3350808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Design Modeling &amp; Building Elements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 · introductions · course overview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Design Modeling in Revit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Part Lists for Modeling (Labs 5–8)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 recap &amp;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Documentation &amp; Specification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Model Documentation (Labs 9–11)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Design Specification (Lab 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summary &amp; feedback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9:30am–5:30pm · 30-min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REVIT &amp; BIM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One Model, Every Drawing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Revit? What is BIM?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&amp; documentation platform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Revit supports the design, drawings and schedules required for building information modeling (BIM).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Information when you need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BIM delivers information about project design, scope, quantities and phases on demand.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virtual building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drawing sheet, 2D and 3D view and schedule is a presentation of the same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Coordinated everywhere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Revit collects information about the project and coordinates it across all other representations.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PARAMETRIC CHANGE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Change it once — it changes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Revit parametric change engine automatically coordinates changes made anywhere: model views, drawing sheets, schedules, sections and plans.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 · GETTING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Revit User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interface is designed to simplify your workflow — a few clicks change it to suit how you work.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ribbon has 4 display settings; project views can be tiled or layered.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Core parts: ribbon, Application Menu, Quick Access Toolbar, Project Browser, Properties palette, Options Bar, View Control Bar and status 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40" y="1920240"/>
            <a:ext cx="4773191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Application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Access common file actions: New, Open, Save.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 files with advanced tools such as Export and Publish.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Click the File tab (application button) at the top-left to open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815" y="1920240"/>
            <a:ext cx="3029441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customisable strip of the tools you use most often.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Right-click any ribbon tool ▸ Add to Quick Access Toolbar.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Drop-down at the end: show/hide tools, or move the toolbar below the ribbon.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62272"/>
            <a:ext cx="10634472" cy="125001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0634472" cy="103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logical hierarchy of all views, schedules, sheets, families, groups and linked models in the project.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Expand/collapse each branch to reach lower-level items.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Show it via View tab ▸ Windows panel ▸ User Interface ▸ Project Browser.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880" y="1920240"/>
            <a:ext cx="2759312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modeless dialog to view and modify the parameters that define each element's properties.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Top: the Type Selector. Below: instance properties of the selection (or the view).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 it via View tab ▸ Windows panel ▸ User Interface ▸ Properties.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146" y="1920240"/>
            <a:ext cx="3722780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Options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Sits below the ribbon; its contents change with the current tool or selected element.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Sets tool options such as Level, Height, Location Line, Chain and Offset while you draw.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Right-click it to dock at the bottom of the window, above the status 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62272"/>
            <a:ext cx="10634472" cy="56339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0634472" cy="3439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 Control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Quick access to functions that affect the current 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Scale · Detail Level · Visual Style · Sun Path · Shadows · Rendering dialog.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Crop View · Show/Hide Crop Region · Temporary Hide/Isolate · Reveal Hidden Elements.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62272"/>
            <a:ext cx="10634472" cy="102126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0634472" cy="8018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YOUR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Revit File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RVT — project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building model: geometry, views, sheets and schedules all live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RTE — project template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starting point with preset units, levels, views and families.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RFA — loadable family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Doors, windows, furniture, tags and title blocks loaded into projects.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DWG / DXF — CAD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AutoCAD drawings that can be linked or imported into the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Modeling in Revit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BIM &amp; the Revit platform · User interface · Site design &amp; toposurfaces · Massing · Materials ·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Design Modeling in Revit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BIM platform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Revit supports design, drawings and schedules for building information modeling — every sheet, view and schedule presents the same virtual building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Parametric change engine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change made anywhere — model views, sheets, schedules, sections, plans — is coordinated automatically everywhere else.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Revit user interface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Ribbon, Application Menu, Quick Access Toolbar, Project Browser, Properties palette, Options Bar and View Control Bar.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Site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Sketch a toposurface, then add property lines, a building pad, parking and site components; present it in 3D or rendered views.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Massing studies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Conceptual mass families and in-place masses let you study volumes, zoning and floor-area ratio before detailed modeling.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Materials &amp; rendering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Materials control graphics, appearance, thermal and physical data; the Render tool produces photorealistic images of the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Design Modeling in Revit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Project and Add Levels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Terrain and Building Pad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an In-Place Mass and Apply Materials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Render a Photorealistic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Revit provides tools to lay out a complete site plan.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 by sketching a toposurface, then add property lines, a building pad, parking and site components.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Present the site as a 3D view or render it for a realistic presentation.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834319"/>
            <a:ext cx="4828032" cy="22134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TERRAIN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Toposurface Toolset (Massing &amp; Site tab)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Toposurface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Defines a topographical surface from points or imported data, in 3D or site-plan views.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Subregion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area of the toposurface with its own properties, such as a different material.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Split / Merge Surface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Split a surface into two independent surfaces, or rejoin overlapping surfaces.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Graded Region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Grade the terrain: Revit demolishes the original surface and creates the proposed copy.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Pad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closed-loop pad cut into the toposurface, with height offset, slope and openings.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Point elevation modes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Absolute Elevation places points at a set height; Relative to Surface edits an existing surface.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MASSING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Massing — Two Ways to Study a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Family-based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In-place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Conceptual Mass Family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Created outside the project and loaded 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Reusable across projects and design options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often-used building volumes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In-Place Mass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Created inside the current project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Specific to this project's context — not reusable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Generate floors, roofs, curtain systems and walls from the mass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MATERIALS  (Manage ▸ Settings ▸ Materials)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Materials Define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Graphics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Shading colour, surface pattern and cut pattern in non-rendered views.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Appearance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photorealistic look used by the Realistic style and the renderer.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Thermal &amp; Physical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Analytical data for energy and structural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 to 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By category, by family, by element parameter, or by face with the Paint tool.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Rendering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the 3D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view to render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Render dialog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View ▸ Graphics ▸ Render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&amp;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Screen or Printer DPI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Lighting &amp; background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Sun, artificial, sky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Render &amp; save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Adjust exposure, export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Realistic visual style for a live preview; render only when the view, materials and lighting are ready — high quality renders take time.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and Add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produce and visualise 2D/3D technical drawings using Revit (LO1)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Start a new Revit project from the architectural template, rename the default levels and add new levels that become the vertical datums for the whole building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Revit project with four named, correctly-elevated levels and their floor-plan views.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Architectural Template · Level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Project Browser lists a floor plan for each new level, and the South elevation shows all four levels with the correct names and elevations. Compare with the completed LittleHouse.rvt model in the lab folder.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and Add Levels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Start Revit and create a new project from the architectural template.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File ▸ New ▸ Project ▸ Architectural Template ▸ 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a building elevation so the levels are visible.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Project Browser ▸ Elevations (Building Elevation) ▸ South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Rename Level 1 to '01 - Entry Level'; accept renaming the corresponding views.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Double-click the level name ▸ type 01 - Entry Level ▸ Enter ▸ 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and Add Levels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Rename Level 2 to '02 - Upper Level' and set its elevation by clicking the blue elevation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Double-click the elevation value ▸ type 3000 ▸ Enter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a roof level by drawing a new level above the existing 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Datum ▸ Level ▸ draw left to right above 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another level by offsetting from an existing one, then rename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| Place Level ▸ Pick Lines ▸ Offset 3000 ▸ click level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and Add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Project Browser lists a floor plan for each new level, and the South elevation shows all four levels with the correct names and elevations. Compare with the completed LittleHouse.rvt model in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Terrain and Building Pad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produce and visualise 2D/3D technical drawings using Revit (LO1)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a toposurface to the building site by placing points at different elevations, then cut a building pad into the terrain based on the footprint of the foundation walls.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landscaped site with a graded toposurface, a grass material and a building pad ready for the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Toposurface · Building Pad · Section 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3D view shows the terrain with a grass material, and the building pad cuts a level recess into the toposurface at the foundation walls.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Terrain and Building Pad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site plan view of the project.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Project Browser ▸ Floor Plans ▸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Start the Toposurface tool and place boundary points at elevation 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Massing &amp; Site ▸ Model Site ▸ Toposurface ▸ Place Point ▸ Elevation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Raise the far points: change the elevation on the Options Bar as you place them.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Options Bar ▸ Elevation 900 ▸ click to place the back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Terrain and Building Pad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Assign a grass material to the surface, then finish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Properties ▸ Material ▸ Grass ▸ Finish Surface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Sketch a building pad over the foundation footprint on the lower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Massing &amp; Site ▸ Model Site ▸ Building Pad ▸ Pick Walls ▸ Finish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result in 3D with a section box to see the pad cutting the terrain.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3D view ▸ Properties ▸ Section Box ✓ ▸ drag the handles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Terrain and Building Pad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3D view shows the terrain with a grass material, and the building pad cuts a level recess into the toposurface at the foundation walls.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In-Place Mass and Apply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produce and visualise 2D/3D technical drawings using Revit (LO1)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Model a conceptual building volume as an in-place mass, then use the Materials browser to control how model elements display in shaded and rendered 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in-place conceptual mass with materials applied by category and by 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In-Place Mass · Materials Browser · Paint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mass displays the painted material on the selected face in a shaded 3D view, and the duplicated material appears in the project's material library.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Create an In-Place Mass and Apply Materials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Start an in-place mass and name the new mass family.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Massing &amp; Site ▸ Conceptual Mass ▸ In-Place Mass ▸ name it Tower ▸ 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Draw a closed profile and create a form from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Draw ▸ Rectangle ▸ select the profile ▸ Modify ▸ Create Form ▸ Solid 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Finish the mass to return to the project environment.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In-Place Editor ▸ Finish Mass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Create an In-Place Mass and Apply Materials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Materials browser and duplicate a material to customise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Manage ▸ Settings ▸ Materials ▸ right-click Concrete ▸ Duplicate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the material's graphics: shading colour, surface pattern and cut pattern.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Material Editor ▸ Graphics ▸ Shading ▸ choose a colour ▸ 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Paint the new material onto one face of the mass.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▸ Geometry ▸ Paint ▸ pick the material ▸ click a 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 In-Place Mass and Apply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mass displays the painted material on the selected face in a shaded 3D view, and the duplicated material appears in the project's material library.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Render a Photorealistic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produce and visualise 2D/3D technical drawings using Revit (LO1)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design by producing a photorealistic image of the building model: set the render quality, resolution, lighting and background, then export the image.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rendered exterior image of the LittleHouse model, exported to the project and saved as a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Render dialog · Realistic visual style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photorealistic rendering of the house appears under Project Browser ▸ Renderings, and the exported PNG opens outside Revit.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Render a Photorealistic View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LittleHouse.rvt from the lab folder and open the default 3D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Quick Access Toolbar ▸ Default 3D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Preview materials in real time with the Realistic visual style.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Control Bar ▸ Visual Style ▸ Realistic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Rendering dialog from the View tab.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▸ Graphics ▸ 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Render a Photorealistic View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Quality to Medium and Output to Screen resolution.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Rendering dialog ▸ Quality: Medium ▸ Resolution: Screen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the lighting scheme and a sky background, then render.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Lighting: Exterior Sun only ▸ Background: Sky ▸ 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Adjust exposure if needed, then save the image into the project and export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Adjust Exposure ▸ Save to Project ▸ Export ▸ littlehouse-render.png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Render a Photorealistic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photorealistic rendering of the house appears under Project Browser ▸ Renderings, and the exported PNG opens outside Revit.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Design Modeling in Revit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produce and visualise 2D/3D technical drawings using Revit  (Lab 1: Create a Project and Add Levels)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produce and visualise 2D/3D technical drawings using Revit  (Lab 2: Create a Terrain and Building Pad)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produce and visualise 2D/3D technical drawings using Revit  (Lab 3: Create an In-Place Mass and Apply Materials)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produce and visualise 2D/3D technical drawings using Revit  (Lab 4: Render a Photorealistic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Part Lists for Modeling in Revit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Levels &amp; grids · Stacked, basic and curtain walls · Doors &amp; windows · Roofs · Ceilings · Floors &amp; openings · Stairs ·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Part Lists for Modeling in Revit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Levels &amp; grids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Levels are datums for each storey or reference height; grids are annotation elements that organise the design — add columns at grid intersections.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Wall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Basic walls, stacked walls (two or more subwalls of different thickness) and curtain walls with grids, panels and mullions.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Doors &amp; windows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Hosted components that automatically cut their opening; press Spacebar to flip the swing before placement.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Roofs &amp; ceilings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roofs by footprint, extrusion, sloped glazing or from a mass; place ceilings automatically inside walls or by sketch.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Floors &amp; openings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Sketch floor boundaries as closed loops; cut openings By Face, Vertical, or through the full height with the Shaft tool.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Stairs &amp; railings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Assemble runs, landings, supports and railings in stair assembly edit mode, in plan or 3D views.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Part Lists for Modeling in Revit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Walls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Place Doors and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Floor and a Roof by Footprint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Stairs and Railings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Levels and Grids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Levels are the vertical datums — create one for each storey plus reference levels such as a sill level.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Add levels in a section or elevation view: Architecture ▸ Datum ▸ Level.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Grids organise the design — Architecture ▸ Datum ▸ Grid, with Pick Lines to snap a grid to an existing wall.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Columns can be placed automatically at every selected grid intersection.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Stacked Walls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stacked wall is composed of 2 or more subwalls stacked on top of each other.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Subwalls can have different thicknesses at different heights.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subwalls are attached and their geometry is joined.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8186"/>
            <a:ext cx="4828032" cy="2985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OPTIONS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Basic Wall Placement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Level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base constraint — in 3D views you can choose any level, including non-storey levels.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Height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top constraint level, or an Unconnected height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Location 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Which vertical plane follows your cursor: centerline, core, or a 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Draw a connected series of wall segments end to end.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the wall's location line at a distance from the cursor or picked 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Join Status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Allow butt joins where walls meet, or Disallow to keep them separate.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Curtain Walls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curtain wall is placed like any wall — just pick a curtain wall type in the Type Selector.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placement, divide the wall with curtain grids, then place mullions on the grid lines.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a panel (Tab to cycle), then swap its type — including doors and walls embedded in panels.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Architecture ▸ Build ▸ Curtain Grid · Add/Remove Segments to customise the layout.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8186"/>
            <a:ext cx="4828032" cy="2985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ROOFS  (Architecture ▸ Build ▸ Roof ▸ Roof by Footprint)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Roof by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0235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50" y="1920240"/>
            <a:ext cx="4678131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32120"/>
            <a:ext cx="5102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Sketch: a closed loop with slope-defining lines (△ marker)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0235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356" y="1920240"/>
            <a:ext cx="4476360" cy="3337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532120"/>
            <a:ext cx="5102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Result: the finished footprint roof in 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ROOFS  (Architecture ▸ Build ▸ Roof ▸ Roof by Extrusion)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Roof by Extrusion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0235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40" y="1920240"/>
            <a:ext cx="3984152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32120"/>
            <a:ext cx="5102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Sketch the profile as an open loop in an elevation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0235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34" y="1920240"/>
            <a:ext cx="4367803" cy="3337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532120"/>
            <a:ext cx="5102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profile extrudes into the roof; attach walls afterwards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HORIZONTAL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Ceilings, Floors and Openings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Ceiling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 a ceiling plan: Automatic Ceiling fills walls that form a closed loop, or sketch the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Floor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Pick walls or sketch a closed-loop profile; extra closed loops inside become openings.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Opening — By Face / Vertical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Cut perpendicular to a roof/floor/ceiling face, or vertically to a level.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Shaft opening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Cuts through the entire height — every floor, roof and ceiling it crosses, on all levels.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Dormer opening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Join the dormer roof to the main roof, then pick the boundary edges to cut the opening.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Stairs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Assemble runs, landings, supports and railings in stair assembly edit mode — plan or 3D.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Columns to Grids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Structure ▸ Structure ▸ Structural Column ▸ Multiple ▸ At Grids.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grid lines — a column previews at every intersection.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Spacebar rotates all the columns being placed; Ctrl-drag to add more intersections.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Click Finish to create all the columns in one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62272"/>
            <a:ext cx="10634472" cy="156068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0634472" cy="13412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Walls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create part lists for modeling using Revit (LO2)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Work on different levels to add the exterior walls, interior partition walls and a corridor to the project, then tidy the joins with the Trim/Extend tool.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building shell with exterior walls, interior walls and a corridor opening on the lower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Wall: Architectural · Trim/Extend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lower level shows a closed exterior shell with interior partitions and a corridor; walls meet cleanly with no gaps or crossing lines. Compare with ModelCreation.rvt in the lab folder.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Walls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lower-level floor plan and start the architectural Wall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Build ▸ Wall ▸ Wall: Architectural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wall type and set base/top constraints in the Properties palette.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Type Selector ▸ Basic Wall: Generic 200mm ▸ Top Constraint: Up to level 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 the Options Bar set the Location Line and enable Chain, then draw the exterior walls clockwise.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Options Bar ▸ Location Line: Wall Centerline ▸ Chain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Walls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the interior partition walls with a thinner wall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Type Selector ▸ Basic Wall: Interior 135mm Partition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the corridor by trimming the partition walls to form the opening.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▸ Trim/Extend to Corner ▸ click the two walls to keep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Check the shell in 3D and correct any wall join problems.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Default 3D View ▸ inspect ▸ Modify ▸ Wall Joins if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Walls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lower level shows a closed exterior shell with interior partitions and a corridor; walls meet cleanly with no gaps or crossing lines. Compare with ModelCreation.rvt in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Place Doors and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create part lists for modeling using Revit (LO2)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Load door families into the project, then place interior and exterior doors and windows — flipping swing and orientation with the Spacebar and flip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model with doors and windows placed and correctly oriented in the walls, each opening cut automatically.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Door tool · Window tool · Load Family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door and window sits in a wall with its opening cut automatically, tags show sequential numbers, and all swings open the intended way.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Place Doors and Windows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entry-level floor plan and start the Door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Build ▸ Door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Load additional door families from the library.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| Place Door ▸ Mode ▸ Load Family ▸ Doors ▸ choose an entrance door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Enable tagging on placement so each door is numbered automatically.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| Place Door ▸ Tag ▸ Tag on Placement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Place Doors and Windows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Hover over a wall, press Spacebar to flip the swing, then click to place the door.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Spacebar to flip ▸ click to place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Place windows on the exterior walls with the Window tool.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Build ▸ Window ▸ click the exterior walls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Fix any wrongly-placed component with the blue flip-control arrows.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the door/window ▸ click the flip arrows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Place Doors and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door and window sits in a wall with its opening cut automatically, tags show sequential numbers, and all swings open the intended 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Floor and a Roof by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create part lists for modeling using Revit (LO2)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Create a mezzanine floor by sketching its boundary, edit the sketch with Align and Trim into a closed loop, then complete the envelope with a footprint roof whose slopes you define.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mezzanine floor in the store-room area and a sloped roof closing the building envelope.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Floor: Architectural · Roof by Footprint · Shaft Opening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mezzanine floor appears with a clean shaft opening, and the 3D view shows a sloped roof sitting on the footprint — no warnings about open loops.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Floor and a Roof by Footprint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upper-level plan and start the architectural Floor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Build ▸ Floor ▸ Floor: Architectural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bounding walls, then switch to Line to close the open edge.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| Create Floor Boundary ▸ Pick Walls ▸ Draw ▸ 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Align and Trim to make the sketch one closed loop, then finish.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▸ Align / Trim ▸ ✓ Finish Edit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Floor and a Roof by Footprint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Cut a stair opening through the new floor with the Shaft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Opening ▸ Shaft ▸ sketch the opening ▸ Finish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the roof from the building footprint on the roof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Build ▸ Roof ▸ Roof by Footprint ▸ Pick Walls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which boundary lines define a slope, then finish and view in 3D.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a line ▸ Properties ▸ Defines Roof Slope ✓ ▸ ✓ 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Floor and a Roof by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mezzanine floor appears with a clean shaft opening, and the 3D view shows a sloped roof sitting on the footprint — no warnings about open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Stairs and Railings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create part lists for modeling using Revit (LO2)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the interior by adding a staircase from the store floor to the mezzanine, then modify the mezzanine railing and change its type to a pipe railing.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staircase connecting the store floor to the mezzanine, with a matching pipe railing on the mezzanine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Stair tool · Railing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3D view shows a complete stair with railings from the store floor to the mezzanine, and the mezzanine edge railing is the pipe 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Stairs and Railings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lower-level plan and start the Stair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Circulation ▸ Stair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the base and top levels for the run in the Properties palette.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Properties ▸ Base Level: 01 ▸ Top Level: Mezzanine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the railing type to generate with the stair.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Modify | Create Stair ▸ Tools ▸ Railing ▸ pick a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Stairs and Railings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Draw the run: click the start point, move up-screen, click the end 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Components ▸ Run ▸ Straight ▸ click start ▸ click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Finish the stair and inspect it in 3D.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✓ Finish Edit Mode ▸ Default 3D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mezzanine railing and change it to a pipe railing type.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railing ▸ Type Selector ▸ Railing: Pipe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Stairs and Railings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3D view shows a complete stair with railings from the store floor to the mezzanine, and the mezzanine edge railing is the pipe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Part Lists for Modeling in Revit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create part lists for modeling using Revit  (Lab 5: Create Walls)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create part lists for modeling using Revit  (Lab 6: Place Doors and Windows)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create part lists for modeling using Revit  (Lab 7: Create a Floor and a Roof by Footprint)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create part lists for modeling using Revit  (Lab 8: Create Stairs and Railings)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Model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Dimensions · Rooms · Area plans · Furniture plans · Color fill legends · Dependent views · Object styles · Callout &amp; section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Dimensions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Temporary dimensions appear while placing; permanent dimensions (aligned, linear, angular, radial, arc length) document the design and print on sheets.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Rooms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Rooms are subdivisions bounded by walls, floors, roofs and ceilings; Revit computes perimeter, area and volume, and room separation lines subdivide open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Area plans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Area schemes and boundary lines measure gross/rentable areas per level, created from the Room &amp; Area panel.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Color fill legends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Color schemes paint rooms or areas in plan views; the legend provides the key and is edited from the Scheme panel.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Views for a 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Duplicate (with detailing / as dependent) to make furniture plans, callouts of wall details and building sections.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 styles &amp; visibility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Object Styles set project-wide line weight, colour, pattern and material per category; Visibility/Graphics overrides them per view.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Model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Dimensions to the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Rooms, an Area Plan and a Color Fill Legend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Section, Callout and Dependent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ANNOTATE ▸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Permanent Dimension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Aligned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Between parallel references or points — walls, faces, core, with Intersecting Grids and Openings options.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Linear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Between points, locked to the view's horizontal/vertical axis; Spacebar aligns the axis.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Angular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Between references sharing a common intersection — pick two non-parallel elements.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Radial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Click an arc, then place — the radius of curved elements.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Arc Length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Pick the radial point, then the arc ends — the length of a curved wall.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Temporary vs permanent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Temporary dimensions appear while placing and vanish; permanent ones print on sheets.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ARCHITECTURE ▸ ROOM &amp;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Rooms — Create, Edit, Delete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room is a subdivision of space bounded by room-bounding elements: walls, floors, roofs and ceilings.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Revit computes each room's perimeter, area and volume, updating as bounding elements move.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Room separation lines subdivide open space; the Room Bounding parameter can be toggled per element.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Delete rooms from a room schedule: Isolate not-placed rows, select them and Delete.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62272"/>
            <a:ext cx="10634472" cy="14412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0634472" cy="1221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VIEWS FOR A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Furniture Plans &amp; View Duplication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Duplicate copies the model geometry only; Duplicate with Detailing also copies annotations and detail items.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Duplicate as Dependent keeps the copy synchronised with the primary view — crop it to one wing or sheet area.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Purpose-made views: a furniture layout half-toned on the RCP, or a furniture plan with room names on a half-toned floor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827280"/>
            <a:ext cx="4828032" cy="22275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VIEW ▸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Callout and Section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callout shows an enlarged part of the parent view — add detail there without cluttering the parent.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callout tag links to the callout view; deleting the parent view deletes the callout.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Sections cut through the model: View ▸ Create ▸ Section, drag through the model, then resize the crop region.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Double-click the section head (or use the Project Browser) to open the section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170" y="1920240"/>
            <a:ext cx="4620731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GRAPHIC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Styles vs Visibility/Graphics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Object Styles (Manage ▸ Settings) set project-wide line weight, colour, pattern and material per category.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Visibility/Graphics (VG) overrides those settings per view; element overrides go one step further.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If a category cell is blank in VG, the element displays as specified in Object Styles.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is what makes purpose-specific views possible without duplicating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62272"/>
            <a:ext cx="10634472" cy="174452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0634472" cy="15250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Dimensions to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assist in design prototyping and create design documentation (LO3)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Dimension the footprint of the main building: overall widths, then aligned dimension strings that automatically pick up grid intersections and window openings on the exterior walls.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dimensioned floor plan documenting the building footprint, grids and openings.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Aligned Dimension · Linear Dimension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plan shows an overall dimension plus a string that lists every grid intersection and window centre along the exterior wall — values update if a window is moved.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Dimensions to the Model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entry-level floor plan of LittleHouse.rvt.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Project Browser ▸ Floor Plans ▸ 01 - Entry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Start the Aligned dimension tool and set the snap preference.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Annotate ▸ Dimension ▸ Aligned ▸ Options Bar ▸ Prefer: Wall faces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Dimension the overall width: click the two outer wall faces, then click to place the 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Click wall face ▸ click opposite face ▸ click to 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Dimensions to the Model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Dimension the exterior wall with grid intersections picked up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Options Bar ▸ Pick: Entire Walls ▸ Options ▸ Intersecting Grids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the window openings to the same dimension string.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Options ▸ Openings: Centers ✓ ▸ click the exterior wall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Place a linear dimension between two points and align it with the Spacebar.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Annotate ▸ Dimension ▸ Linear ▸ pick two points ▸ Spacebar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Dimensions to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plan shows an overall dimension plus a string that lists every grid intersection and window centre along the exterior wall — values update if a window is moved.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Rooms, an Area Plan and a Color Fill Legend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assist in design prototyping and create design documentation (LO3)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Subdivide the model into rooms, create an area plan for the level, then colour the plan with a colour scheme and place its legend as the key.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room-tagged plan, a gross-area plan and a colour-filled plan with legend.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Room tool · Area Plan · Color Fill Legend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space carries a named room tag, the area plan reports the level's areas, and the plan is colour-filled with a legend that matches the scheme.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Create Rooms, an Area Plan and a Color Fill Legend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Place rooms in every enclosed space on the entry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Room &amp; Area ▸ Room ▸ click inside each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Rename the rooms by editing their tags.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Double-click a room tag ▸ type the name ▸ Enter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an area plan for the entry level, letting Revit add the boundary lines.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Architecture ▸ Room &amp; Area ▸ Area ▸ Area Plan ▸ Level 01 ▸ 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Create Rooms, an Area Plan and a Color Fill Legend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Place a colour fill legend beside the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Annotate ▸ Color Fill ▸ Legend ▸ click in the drawing 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the space type and colour scheme for the legend.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Choose Space Type: Rooms ▸ Color Scheme: Name ▸ 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Edit the scheme to colour by department or by name.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legend ▸ Edit Scheme ▸ pick a scheme ▸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Rooms, an Area Plan and a Color Fill Legend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space carries a named room tag, the area plan reports the level's areas, and the plan is colour-filled with a legend that matches the scheme.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Section, Callout and Dependent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assist in design prototyping and create design documentation (LO3)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Create a building section through the model, a callout view of the exterior wall, and a detail callout of the parapet; then duplicate a plan as a dependent view and as a furniture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section view, wall-section callout, detail callout and purpose-made duplicate views.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Section tool · Callout tool · Duplicate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Project Browser shows the section, the two callouts and the dependent/furniture views; each callout head links to its enlarged 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Create Section, Callout and Dependent Views — Steps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Draw a building section through the model from the entry-level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▸ Create ▸ Section ▸ click start ▸ click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Resize the crop region and flip the view direction if needed, then open the section.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Drag the blue controls ▸ double-click the section head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wall-section callout of the exterior wall in the section view.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▸ Create ▸ Callout ▸ Rectangle ▸ drag around the wall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Create Section, Callout and Dependent Views — Steps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detail callout of the parapet inside the wall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▸ Create ▸ Callout ▸ Detail ▸ drag around the parapet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Duplicate the entry-level plan as a dependent view and crop it to one wing.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Project Browser ▸ right-click plan ▸ Duplicate View ▸ Duplicate as Dependent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Duplicate with detailing to make a furniture plan, half-toning the model categories.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Duplicate with Detailing ▸ Visibility/Graphics ▸ Halftone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Section, Callout and Dependent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Project Browser shows the section, the two callouts and the dependent/furniture views; each callout head links to its enlarged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Model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assist in design prototyping and create design documentation  (Lab 9: Add Dimensions to the Model)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assist in design prototyping and create design documentation  (Lab 10: Create Rooms, an Area Plan and a Color Fill Legend)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assist in design prototyping and create design documentation  (Lab 11: Create Section, Callout and Dependent Views)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System, loadable &amp; in-place families · Type catalogs · Detail components · Schedules · Drawing sheets · Worksharing · CAD links · Project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Design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Three kinds of families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System families (walls, roofs, floors), loadable families (doors, windows, furniture, title blocks — RFA files) and in-place families for one-off elements.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Type catalogs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 only the family types you need to keep the project small and the Type Selector short.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Schedules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Schedule/Quantities lists building components; choose fields, filter, sort, group and format — the schedule is live model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Drawing sheets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construction document set is composed of sheets; each placed view becomes a viewport with a title block, then print or export to PDF.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Worksharing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Team members share a central model and work simultaneously in local copies organised by worksets.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Link &amp; import CAD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or import DWG/DXF data, acquire or publish shared coordinates, audit the model and transfer project standards.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Design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Families, Tags, a Schedule and Drawing Sheets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Kinds of Revit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System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Walls, roofs, floors, ducts, pipes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Predefined in Revit — not loaded from files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Include settings: levels, grids, sheets, viewports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Loadable families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Doors, windows, furniture, fixtures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Symbols and title blocks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RFA files — the most commonly created/edited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In-place families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Unique, one-off elements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Created inside the project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Reference other project geometry and resize with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RFA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Loading and Managing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Load a family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▸ Load from Library ▸ Load Family — preview thumbnails, then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Type catalog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large families, load only the types you need — keeps the project small and the Type Selector short.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Save a family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▸ Save As ▸ Library ▸ Family, or right-click a family in the Project Browser ▸ Save.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Detail components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2D line-based families placed in detail/drafting views — Annotate ▸ Detail Component.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04 · SCHEDULE/QUANTITIES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New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View ▸ Schedules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Pick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e.g. Doors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Mark, Type, Width…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&amp; sort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Sorting/Grouping tab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Headers, appearance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LIVE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schedule is a live view of the model — edit a value in the schedule and the model changes; multi-category schedules can only include loadable families.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DOCUMENT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Sheets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construction document set consists of sheets — View ▸ Sheet Composition ▸ Sheet.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Drag views and schedules from the Project Browser onto the sheet; each becomes a viewport.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Parts of a sheet: the sheet itself, project views, schedules and the title block.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Print with File ▸ Print, or choose a PDF driver to issue a single PDF of selected sheets.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8876"/>
            <a:ext cx="4828032" cy="3584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Worksharing — Team on One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Worksharing lets multiple team members work on the same project model at the same time.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Everyone shares a central model and works in a local copy, organised by worksets.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Enable it via Collaborate ▸ Manage Collaboration ▸ Worksets, then Save As to create the central model.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worksets: Shared Levels and Grids, and Workset1 — rename or add as the team needs.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82337"/>
            <a:ext cx="4828032" cy="27174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Link CAD, Coordinates &amp; Project Hygiene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Link CAD keeps a live reference to a DWG; Import CAD brings the vector data in.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Acquire Coordinates from a linked site model; Publish Coordinates pushes them to linked building models.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Audit (File ▸ Open ▸ Audit) scans and fixes corrupt elements in the model.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Transfer Project Standards copies types and settings from one project to another (Overwrite / New 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83080"/>
            <a:ext cx="5102352" cy="43159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010807"/>
            <a:ext cx="4828032" cy="18605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Families, Tags, a Schedule and Drawing Sheets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to: produce design specification using Revit (LO4)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Load the door, window and wall tag families supplied in the lab folder, tag the model, build a door schedule, then compose a titled drawing sheet with plan, section and schedule — the deliverable construction document.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construction-document sheet with title block carrying the plan, a section, tags and a live door schedule.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Revit · Load Family · Tag by Category · Schedule/Quantities · Sheet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 A101 shows the plan, section and door schedule inside the title block; the schedule updates live when a door type changes, and the exported PDF matches the sheet.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Families, Tags, a Schedule and Drawing Sheets — Steps 1–4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Load the three tag families supplied in this lab's folder.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Insert ▸ Load from Library ▸ Load Family ▸ select the 3 RFA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Tag the doors, windows and walls in the entry-level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Annotate ▸ Tag ▸ Tag by Category ▸ click each element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door schedule and choose its fields.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▸ Create ▸ Schedules ▸ Schedule/Quantities ▸ Doors ▸ add Mark, Type, Width, Height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Sort the schedule by Mark and format the headers.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Schedule Properties ▸ Sorting/Grouping ▸ Mark ▸ Formatting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Families, Tags, a Schedule and Drawing Sheets — Steps 5–7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sheet from a title block and rename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View ▸ Sheet Composition ▸ Sheet ▸ A1 metric ▸ rename A101 - Plans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Drag the plan, the section and the schedule onto the sheet and arrange the viewports.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Drag views from the Project Browser onto the sheet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Print or export the sheet to PDF as the issued document.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File ▸ Print ▸ PDF driver ▸ Selected views/sheets ▸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Families, Tags, a Schedule and Drawing Sheets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Sheet A101 shows the plan, section and door schedule inside the title block; the schedule updates live when a door type changes, and the exported PDF matches the sheet.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is greyed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active view type — many tools only work in a plan, elevation or 3D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Warning about closed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sketch again and use Trim/Extend until the boundary is one closed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Can't select an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 and press Tab to cycle the selection, and check the selection filters at the status 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Design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produce design specification using Revit  (Lab 12: Families, Tags, a Schedule and Drawing Sheets)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modeling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Created projects, levels, terrain, masses, materials and photorealistic renders (Labs 1–4).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Building elements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Modelled walls, doors, windows, floors, roofs, stairs and railings (Labs 5–8).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Documentation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Dimensioned plans, created rooms, area plans, colour fills, sections and callouts (Labs 9–11).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Loaded families, tagged elements, built schedules and issued drawing sheets (Lab 12).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TEST YOURSELF ·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Practice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Sharpen your readiness at  https://exams.tertiaryinfotech.com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Timed conditions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Attempt the matching Revit practice exam under exam timing.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explanations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Study every explanation — right and wrong answers alike.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 the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Revisit any lab whose topic you miss, then re-take the practice exam.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LEARNING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Application of BIM using Revit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 deeper into BIM coordination and collaboration.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Technical Drawing with AutoCAD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2D drafting and documentation with AutoCAD.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Product Design with Fusion 360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Parametric product design and manufacturing.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AutoCAD Civil 3D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Infrastructure design for roads, sites and utilities.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ACP: Revit Architectural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for the Autodesk Certified Professional exam.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Browse all courses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www.tertiarycourses.com.sg — the full CAD/BIM pathway.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&amp; Contact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During and after class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support you during the course and after it — just reach 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your certificate of completion from https://lms-tms.tertiaryinfotech.com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your feedback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course feedback form on the LMS before you leave.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Help us improve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Tell us what worked well and what we should change for the next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Certificate of completion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Issued on the LMS after the course — download it from the portal.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Course portal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Slides, Learner Guide and labs: https://lms-tms.tertiaryinfotech.com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model, document and specify an architectural design in Revit — from terrain to issued drawing sheets.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 Revit Architecture Masterclass  ·  C508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